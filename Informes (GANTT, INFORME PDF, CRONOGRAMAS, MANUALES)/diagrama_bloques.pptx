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C9BCE-279B-793C-93E4-44AA1D23C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F43CE8-4470-1D61-C2AA-3044E4756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8C208C-581C-9E50-617B-D939389DA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C66A-E2F2-460F-8739-C4AA35F7A6FC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3FE9D5-F892-9E5A-C5DB-0E34D0849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06C26C-6989-6751-147C-67D2C0A2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CD15-84E7-45B2-97DA-F8ECFB4398C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60757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337D1F-14C8-DE1C-4E0A-94B10351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AECD60-06DD-190B-5FA3-A8375C808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E3DCA3-356B-1C4D-9A83-B29C962C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C66A-E2F2-460F-8739-C4AA35F7A6FC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6E7D27-15FF-4FF6-0506-D6FB2C07A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A5117A-3F9D-C401-9F65-F6C38062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CD15-84E7-45B2-97DA-F8ECFB4398C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25445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3E1EB-3ABE-6A4B-643D-01D6BA861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291C87-6033-C143-9E53-056ACC8C5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08EFD4-0616-6A93-BA79-D84C31C59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C66A-E2F2-460F-8739-C4AA35F7A6FC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E922C1-4842-F824-AF73-603649CE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DE1633-5915-04FD-5A51-66EAF70F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CD15-84E7-45B2-97DA-F8ECFB4398C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754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4126DF-0F93-FA77-E7E9-D70E1B6E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E64314-3C3F-10BA-8FE6-812F065EF4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6F9D8D-AB8A-45AA-E83E-04C7F5DF4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89FA06-EF8E-2B61-C6BA-2ED3A0C55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C66A-E2F2-460F-8739-C4AA35F7A6FC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0D18A6-D5A7-1B6D-0933-B6046BFAF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60C6E0-83E7-EE6D-3A4B-08896A033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CD15-84E7-45B2-97DA-F8ECFB4398C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0846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B9E84E-B350-41D5-25AB-B0F203385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B1815D-B705-F99C-D603-0A5FF6E3F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2B87633-26E8-872F-CC2E-CDA455591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99DDFF9-EFEB-8AE2-ADBB-074C01D3F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4A2C70-37BA-E20A-E49D-76A53BEC8B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216B359-BAD0-CBD7-F4AF-6A3183F28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C66A-E2F2-460F-8739-C4AA35F7A6FC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15FAE5A-8347-A490-AA55-D28C1C45F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CFF99B6-FC22-A24F-10AA-5584A55E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CD15-84E7-45B2-97DA-F8ECFB4398C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1443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FC4CB3-7E52-DF08-3302-7B72E89D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6F8AB6-6A95-ECE2-42FD-19862BBD4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C66A-E2F2-460F-8739-C4AA35F7A6FC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E006C04-D15A-F12F-1418-AD074B587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0C010A-AEBF-6BC9-888F-2EDE7B4DA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CD15-84E7-45B2-97DA-F8ECFB4398C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42420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AE3B2D5-5F93-0E68-E076-DBAAB34D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C66A-E2F2-460F-8739-C4AA35F7A6FC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6DB033A-CA10-1A53-2C89-D215C9F19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6B7E8E-7AEE-6E2B-7678-C232F105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CD15-84E7-45B2-97DA-F8ECFB4398C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93675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89569-E38A-187B-53D2-A47C18AB1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7BE7E4-A97F-1E86-8495-1798C5A3F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E86D08-BCF6-2398-9A33-C8D003DC8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C9019B-4C6F-D47A-642C-5F965549F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C66A-E2F2-460F-8739-C4AA35F7A6FC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21982E-D830-B3CA-1BB6-F7C9959D6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207779-FA1B-D6CD-9F48-C3562D4F7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CD15-84E7-45B2-97DA-F8ECFB4398C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278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93DCA-F42F-731B-D95B-945B3C647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4D3C3A5-2AE7-5352-3B87-E7DEEE8884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880ECE8-ECB5-DA5C-E29B-AE3C1A200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307A42-CBDE-83D4-C46D-9FBF682F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C66A-E2F2-460F-8739-C4AA35F7A6FC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853558-348E-8254-C075-5B97BFF71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0D18E72-E9AD-9286-C31A-0EB0D017E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CD15-84E7-45B2-97DA-F8ECFB4398C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13724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2E26D-14F2-79B0-20F8-E40A10B3E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A90DE12-123A-2A9A-19BA-1C5838B44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FC5CD2-9376-37FE-7955-1460443A7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C66A-E2F2-460F-8739-C4AA35F7A6FC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EEC28C-3115-CBD0-146A-5459FDE62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D9A4F8-8693-49D8-A743-88340BD80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CD15-84E7-45B2-97DA-F8ECFB4398C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8721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B1E5F8-0089-8494-74C1-DAD0B87F7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C4CB9C-EFFC-CD45-C47D-645C327C2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8B58D6-2C9E-D12F-C45A-354A76AEC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C66A-E2F2-460F-8739-C4AA35F7A6FC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213078-F9EE-1202-A6F3-EBF0A9792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CDE1DF-21BA-9A49-1A0A-1C9C63FCE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CD15-84E7-45B2-97DA-F8ECFB4398C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10171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59F6D58-2260-C956-3B15-C97BEE8D6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01873A-AB68-71A3-554E-C1EE805FC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251836-A709-CE0B-0075-137B6CC40A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12C66A-E2F2-460F-8739-C4AA35F7A6FC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A85778-E8C0-B754-78B7-2E2DFCAF17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D5FE45-2A64-C964-C8E7-B33B8F454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43CD15-84E7-45B2-97DA-F8ECFB4398C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18542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5FFFB935-2FE9-F1C5-4C77-83C8B6118DBF}"/>
              </a:ext>
            </a:extLst>
          </p:cNvPr>
          <p:cNvSpPr/>
          <p:nvPr/>
        </p:nvSpPr>
        <p:spPr>
          <a:xfrm>
            <a:off x="80250" y="727600"/>
            <a:ext cx="1960117" cy="1111186"/>
          </a:xfrm>
          <a:prstGeom prst="roundRect">
            <a:avLst>
              <a:gd name="adj" fmla="val 1888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AR" sz="900" b="1" kern="100" dirty="0">
              <a:effectLst/>
              <a:latin typeface="Aptos" panose="02110004020202020204"/>
              <a:ea typeface="Aptos" panose="02110004020202020204"/>
              <a:cs typeface="Times New Roman" panose="02020603050405020304" pitchFamily="18" charset="0"/>
            </a:endParaRPr>
          </a:p>
          <a:p>
            <a:endParaRPr lang="es-AR" sz="900" b="1" kern="100" dirty="0">
              <a:latin typeface="Aptos" panose="02110004020202020204"/>
              <a:ea typeface="Aptos" panose="02110004020202020204"/>
              <a:cs typeface="Times New Roman" panose="02020603050405020304" pitchFamily="18" charset="0"/>
            </a:endParaRPr>
          </a:p>
          <a:p>
            <a:r>
              <a:rPr lang="es-AR" sz="900" b="1" kern="100" dirty="0">
                <a:effectLst/>
                <a:latin typeface="Aptos" panose="02110004020202020204"/>
                <a:ea typeface="Aptos" panose="02110004020202020204"/>
                <a:cs typeface="Times New Roman" panose="02020603050405020304" pitchFamily="18" charset="0"/>
              </a:rPr>
              <a:t>Posicionamiento inicial del robot</a:t>
            </a:r>
            <a:endParaRPr lang="es-AR" sz="900" b="1" dirty="0"/>
          </a:p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s-AR" sz="900" kern="100" dirty="0">
                <a:effectLst/>
                <a:latin typeface="Aptos" panose="02110004020202020204"/>
                <a:ea typeface="Aptos" panose="02110004020202020204"/>
                <a:cs typeface="Times New Roman" panose="02020603050405020304" pitchFamily="18" charset="0"/>
              </a:rPr>
              <a:t>Se coloca el robot en el árbol</a:t>
            </a:r>
          </a:p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s-AR" sz="900" dirty="0">
                <a:effectLst/>
                <a:latin typeface="Aptos" panose="02110004020202020204"/>
                <a:ea typeface="Aptos" panose="02110004020202020204"/>
                <a:cs typeface="Times New Roman" panose="02020603050405020304" pitchFamily="18" charset="0"/>
              </a:rPr>
              <a:t>Sensor fotoeléctrico en la parte inferior detecta que el robot está en posición.</a:t>
            </a:r>
            <a:endParaRPr lang="es-AR" sz="900" dirty="0"/>
          </a:p>
          <a:p>
            <a:pPr algn="ctr"/>
            <a:endParaRPr lang="es-A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76618D9-B16A-CBEC-2905-BA6133C7AB8F}"/>
              </a:ext>
            </a:extLst>
          </p:cNvPr>
          <p:cNvSpPr/>
          <p:nvPr/>
        </p:nvSpPr>
        <p:spPr>
          <a:xfrm>
            <a:off x="2245233" y="158320"/>
            <a:ext cx="3213717" cy="224974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AR" sz="900" b="1" dirty="0"/>
          </a:p>
          <a:p>
            <a:endParaRPr lang="es-AR" sz="900" b="1" dirty="0"/>
          </a:p>
          <a:p>
            <a:r>
              <a:rPr lang="es-AR" sz="900" b="1" dirty="0"/>
              <a:t>Interfaz grafica</a:t>
            </a:r>
          </a:p>
          <a:p>
            <a:r>
              <a:rPr lang="es-AR" sz="900" b="1" dirty="0"/>
              <a:t>Selección del modo de operación: </a:t>
            </a:r>
          </a:p>
          <a:p>
            <a:r>
              <a:rPr lang="es-ES" sz="900" b="1" dirty="0"/>
              <a:t>- Escalado simple</a:t>
            </a:r>
            <a:r>
              <a:rPr lang="es-AR" sz="900" b="1" dirty="0"/>
              <a:t>: </a:t>
            </a:r>
            <a:r>
              <a:rPr lang="es-ES" sz="900" dirty="0"/>
              <a:t>Se le indica a que altura se encuentra y la altura máxima que debe escalar</a:t>
            </a:r>
            <a:endParaRPr lang="es-AR" sz="900" dirty="0"/>
          </a:p>
          <a:p>
            <a:r>
              <a:rPr lang="es-ES" sz="900" b="1" dirty="0"/>
              <a:t>- Escalado completo: </a:t>
            </a:r>
            <a:r>
              <a:rPr lang="es-ES" sz="900" dirty="0"/>
              <a:t>En este caso se debe indicar además una distancia de ascenso parcial y un diámetro estimado del tronco</a:t>
            </a:r>
          </a:p>
          <a:p>
            <a:endParaRPr lang="es-ES" sz="900" b="1" dirty="0"/>
          </a:p>
          <a:p>
            <a:r>
              <a:rPr lang="es-ES" sz="900" b="1" dirty="0"/>
              <a:t>Recepción de información acerca del progreso del robot:</a:t>
            </a:r>
          </a:p>
          <a:p>
            <a:r>
              <a:rPr lang="es-ES" sz="900" b="1" dirty="0"/>
              <a:t>-Cantidad de ramas cortadas, altura escalada, cantidad de objetos omitidos.</a:t>
            </a:r>
          </a:p>
          <a:p>
            <a:endParaRPr lang="es-ES" sz="900" b="1" dirty="0"/>
          </a:p>
          <a:p>
            <a:r>
              <a:rPr lang="es-ES" sz="900" b="1" dirty="0"/>
              <a:t>Opción de abortar operación de corte</a:t>
            </a:r>
          </a:p>
          <a:p>
            <a:endParaRPr lang="es-ES" sz="900" dirty="0"/>
          </a:p>
          <a:p>
            <a:endParaRPr lang="es-AR" sz="900" dirty="0"/>
          </a:p>
          <a:p>
            <a:pPr algn="ctr"/>
            <a:endParaRPr lang="es-AR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D847FA1-C931-00F0-92A7-6CD10B831B13}"/>
              </a:ext>
            </a:extLst>
          </p:cNvPr>
          <p:cNvSpPr/>
          <p:nvPr/>
        </p:nvSpPr>
        <p:spPr>
          <a:xfrm>
            <a:off x="5729256" y="742030"/>
            <a:ext cx="1708768" cy="59775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900" b="1" dirty="0">
              <a:effectLst/>
              <a:latin typeface="Aptos" panose="02110004020202020204"/>
              <a:ea typeface="Aptos" panose="02110004020202020204"/>
              <a:cs typeface="Times New Roman" panose="02020603050405020304" pitchFamily="18" charset="0"/>
            </a:endParaRPr>
          </a:p>
          <a:p>
            <a:r>
              <a:rPr lang="es-AR" sz="900" b="1" dirty="0">
                <a:latin typeface="Aptos" panose="02110004020202020204"/>
                <a:ea typeface="Aptos" panose="02110004020202020204"/>
                <a:cs typeface="Times New Roman" panose="02020603050405020304" pitchFamily="18" charset="0"/>
              </a:rPr>
              <a:t>Instrucciones</a:t>
            </a:r>
            <a:r>
              <a:rPr lang="es-AR" sz="900" b="1" dirty="0">
                <a:effectLst/>
                <a:latin typeface="Aptos" panose="02110004020202020204"/>
                <a:ea typeface="Aptos" panose="02110004020202020204"/>
                <a:cs typeface="Times New Roman" panose="02020603050405020304" pitchFamily="18" charset="0"/>
              </a:rPr>
              <a:t> transferidas mediante una red Wifi al robot</a:t>
            </a:r>
            <a:endParaRPr lang="es-AR" sz="900" b="1" dirty="0"/>
          </a:p>
          <a:p>
            <a:pPr algn="ctr"/>
            <a:endParaRPr lang="es-AR" sz="900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8CBD395-4906-28A3-C2F4-1423A447B082}"/>
              </a:ext>
            </a:extLst>
          </p:cNvPr>
          <p:cNvSpPr/>
          <p:nvPr/>
        </p:nvSpPr>
        <p:spPr>
          <a:xfrm>
            <a:off x="7668946" y="742029"/>
            <a:ext cx="1837678" cy="5977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900" b="1" kern="100" dirty="0">
              <a:effectLst/>
              <a:latin typeface="Aptos" panose="02110004020202020204"/>
              <a:ea typeface="Aptos" panose="02110004020202020204"/>
              <a:cs typeface="Times New Roman" panose="02020603050405020304" pitchFamily="18" charset="0"/>
            </a:endParaRPr>
          </a:p>
          <a:p>
            <a:r>
              <a:rPr lang="es-AR" sz="900" b="1" kern="100" dirty="0">
                <a:effectLst/>
                <a:latin typeface="Aptos" panose="02110004020202020204"/>
                <a:ea typeface="Aptos" panose="02110004020202020204"/>
                <a:cs typeface="Times New Roman" panose="02020603050405020304" pitchFamily="18" charset="0"/>
              </a:rPr>
              <a:t>Datos recibidos mediante ESP32 y enviados al microcontrolador Arduino por comunicación serial</a:t>
            </a:r>
          </a:p>
          <a:p>
            <a:pPr algn="ctr"/>
            <a:endParaRPr lang="es-AR" sz="9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9AB43CA-0AA7-F2A0-AEBB-4FD7F149CEB1}"/>
              </a:ext>
            </a:extLst>
          </p:cNvPr>
          <p:cNvSpPr/>
          <p:nvPr/>
        </p:nvSpPr>
        <p:spPr>
          <a:xfrm>
            <a:off x="7668946" y="1623874"/>
            <a:ext cx="1837678" cy="11111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AR" sz="900" b="1" dirty="0"/>
          </a:p>
          <a:p>
            <a:r>
              <a:rPr lang="es-AR" sz="900" b="1" dirty="0"/>
              <a:t>Arduino Mega</a:t>
            </a:r>
          </a:p>
          <a:p>
            <a:r>
              <a:rPr lang="es-AR" sz="900" dirty="0"/>
              <a:t>El microcontrolador se ajusta al modo de operación y toma decisiones en función de la información obtenida por los sensores del robot.</a:t>
            </a:r>
          </a:p>
          <a:p>
            <a:pPr algn="ctr"/>
            <a:endParaRPr lang="es-AR" sz="900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DC024AF-E3F6-1B59-E4AE-474B17F71FC7}"/>
              </a:ext>
            </a:extLst>
          </p:cNvPr>
          <p:cNvSpPr/>
          <p:nvPr/>
        </p:nvSpPr>
        <p:spPr>
          <a:xfrm>
            <a:off x="9916355" y="1623874"/>
            <a:ext cx="2201663" cy="14145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900" b="1" dirty="0"/>
              <a:t>- Sensor ultrasonido</a:t>
            </a:r>
            <a:r>
              <a:rPr lang="es-AR" sz="900" dirty="0"/>
              <a:t>: Determina la presencia de un objeto.</a:t>
            </a:r>
          </a:p>
          <a:p>
            <a:r>
              <a:rPr lang="es-AR" sz="900" b="1" dirty="0"/>
              <a:t>- Sensor inductivo: </a:t>
            </a:r>
            <a:r>
              <a:rPr lang="es-AR" sz="900" dirty="0"/>
              <a:t>Determina si el objeto detectado es un cable eléctrico  u otro material metálico.</a:t>
            </a:r>
          </a:p>
          <a:p>
            <a:r>
              <a:rPr lang="es-AR" sz="900" b="1" dirty="0"/>
              <a:t>-Sensor óptico: </a:t>
            </a:r>
            <a:r>
              <a:rPr lang="es-AR" sz="900" dirty="0"/>
              <a:t>verificación final en caso de la rama.</a:t>
            </a:r>
          </a:p>
          <a:p>
            <a:endParaRPr lang="es-AR" sz="900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E36D9EE-1285-4F5E-1628-6CFF0BE483C9}"/>
              </a:ext>
            </a:extLst>
          </p:cNvPr>
          <p:cNvSpPr/>
          <p:nvPr/>
        </p:nvSpPr>
        <p:spPr>
          <a:xfrm>
            <a:off x="7668946" y="3530348"/>
            <a:ext cx="1837676" cy="8500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AR" sz="900" b="1" dirty="0"/>
          </a:p>
          <a:p>
            <a:r>
              <a:rPr lang="es-AR" sz="900" b="1" dirty="0"/>
              <a:t>Drivers L298N</a:t>
            </a:r>
          </a:p>
          <a:p>
            <a:r>
              <a:rPr lang="es-AR" sz="900" dirty="0"/>
              <a:t>Reciben señal de activación según lo determinado por el microcontrolador y la envían a los motores</a:t>
            </a:r>
          </a:p>
          <a:p>
            <a:pPr algn="ctr"/>
            <a:endParaRPr lang="es-AR" sz="900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D034A71-75AF-6896-4ECF-DDE05CD04C79}"/>
              </a:ext>
            </a:extLst>
          </p:cNvPr>
          <p:cNvSpPr/>
          <p:nvPr/>
        </p:nvSpPr>
        <p:spPr>
          <a:xfrm>
            <a:off x="7668945" y="4807248"/>
            <a:ext cx="1837677" cy="3684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900" b="1" dirty="0"/>
          </a:p>
          <a:p>
            <a:pPr algn="ctr"/>
            <a:r>
              <a:rPr lang="es-AR" sz="900" b="1" dirty="0"/>
              <a:t>Servomotor para el ajuste del ángulo de la sierra</a:t>
            </a:r>
          </a:p>
          <a:p>
            <a:pPr algn="ctr"/>
            <a:endParaRPr lang="es-AR" sz="900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0246264F-5FD2-915C-EE79-8B438A2B2E11}"/>
              </a:ext>
            </a:extLst>
          </p:cNvPr>
          <p:cNvSpPr/>
          <p:nvPr/>
        </p:nvSpPr>
        <p:spPr>
          <a:xfrm>
            <a:off x="9916355" y="742029"/>
            <a:ext cx="1180729" cy="59775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900" b="1" dirty="0"/>
              <a:t>Alimentación transferida por medio de cable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392E9E76-9204-40A0-63F7-C5CDDF1C10D8}"/>
              </a:ext>
            </a:extLst>
          </p:cNvPr>
          <p:cNvCxnSpPr>
            <a:cxnSpLocks/>
            <a:stCxn id="22" idx="3"/>
            <a:endCxn id="4" idx="1"/>
          </p:cNvCxnSpPr>
          <p:nvPr/>
        </p:nvCxnSpPr>
        <p:spPr>
          <a:xfrm>
            <a:off x="2040367" y="1283193"/>
            <a:ext cx="20486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D468476F-9A01-3CDE-8D03-AC129C354B18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450269" y="1040909"/>
            <a:ext cx="27898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B6610ED-732D-4AA8-02A6-68DE1B5CB926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7438024" y="1040909"/>
            <a:ext cx="23092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3207B00C-3401-25E4-ED7F-F1F5AE985DF1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8587785" y="1339788"/>
            <a:ext cx="0" cy="284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7E559229-4CA8-B1A5-2338-4AF0B8A4967E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flipH="1">
            <a:off x="8587784" y="2735062"/>
            <a:ext cx="1" cy="795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C9350022-96AD-A6CC-D204-014FBB9E456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536365" y="1236704"/>
            <a:ext cx="5184" cy="4592472"/>
          </a:xfrm>
          <a:prstGeom prst="bentConnector3">
            <a:avLst>
              <a:gd name="adj1" fmla="val 4509722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C0521A83-4BCC-842B-1D8C-89B3263D8B13}"/>
              </a:ext>
            </a:extLst>
          </p:cNvPr>
          <p:cNvSpPr/>
          <p:nvPr/>
        </p:nvSpPr>
        <p:spPr>
          <a:xfrm>
            <a:off x="5717681" y="1636452"/>
            <a:ext cx="1708767" cy="59775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900" b="1" dirty="0">
                <a:effectLst/>
                <a:latin typeface="Aptos" panose="02110004020202020204"/>
                <a:ea typeface="Aptos" panose="02110004020202020204"/>
                <a:cs typeface="Times New Roman" panose="02020603050405020304" pitchFamily="18" charset="0"/>
              </a:rPr>
              <a:t>Confirmaciones de detección y cortes  enviadas a la interfaz grafica vía </a:t>
            </a:r>
            <a:r>
              <a:rPr lang="es-AR" sz="900" b="1" dirty="0">
                <a:ea typeface="Aptos" panose="02110004020202020204"/>
                <a:cs typeface="Times New Roman" panose="02020603050405020304" pitchFamily="18" charset="0"/>
              </a:rPr>
              <a:t>Wifi</a:t>
            </a:r>
            <a:endParaRPr lang="es-AR" sz="900" dirty="0"/>
          </a:p>
        </p:txBody>
      </p: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221B2967-CB81-DF17-0871-D6E7DBD4CF46}"/>
              </a:ext>
            </a:extLst>
          </p:cNvPr>
          <p:cNvCxnSpPr>
            <a:cxnSpLocks/>
            <a:stCxn id="34" idx="1"/>
          </p:cNvCxnSpPr>
          <p:nvPr/>
        </p:nvCxnSpPr>
        <p:spPr>
          <a:xfrm flipH="1">
            <a:off x="5450269" y="1935332"/>
            <a:ext cx="2674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BC800A42-0FA1-CA73-2747-05AC6B1B0F58}"/>
              </a:ext>
            </a:extLst>
          </p:cNvPr>
          <p:cNvCxnSpPr>
            <a:cxnSpLocks/>
            <a:endCxn id="34" idx="3"/>
          </p:cNvCxnSpPr>
          <p:nvPr/>
        </p:nvCxnSpPr>
        <p:spPr>
          <a:xfrm flipH="1">
            <a:off x="7426448" y="1935332"/>
            <a:ext cx="2587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de flecha 77">
            <a:extLst>
              <a:ext uri="{FF2B5EF4-FFF2-40B4-BE49-F238E27FC236}">
                <a16:creationId xmlns:a16="http://schemas.microsoft.com/office/drawing/2014/main" id="{F2C33191-4870-76ED-B1FB-870753980FEF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8587784" y="4380385"/>
            <a:ext cx="0" cy="426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561C6311-A9F3-BD6E-DEA1-7B4CE272ADA7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9506622" y="2331126"/>
            <a:ext cx="40973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ector: angular 84">
            <a:extLst>
              <a:ext uri="{FF2B5EF4-FFF2-40B4-BE49-F238E27FC236}">
                <a16:creationId xmlns:a16="http://schemas.microsoft.com/office/drawing/2014/main" id="{C9736009-308B-50AF-9F5B-4655C04E8C3F}"/>
              </a:ext>
            </a:extLst>
          </p:cNvPr>
          <p:cNvCxnSpPr>
            <a:stCxn id="14" idx="1"/>
            <a:endCxn id="7" idx="3"/>
          </p:cNvCxnSpPr>
          <p:nvPr/>
        </p:nvCxnSpPr>
        <p:spPr>
          <a:xfrm rot="10800000" flipV="1">
            <a:off x="9506625" y="1040908"/>
            <a:ext cx="409731" cy="113855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ángulo: esquinas redondeadas 97">
            <a:extLst>
              <a:ext uri="{FF2B5EF4-FFF2-40B4-BE49-F238E27FC236}">
                <a16:creationId xmlns:a16="http://schemas.microsoft.com/office/drawing/2014/main" id="{B6D1085E-A504-E7C0-148B-FED52CD76E48}"/>
              </a:ext>
            </a:extLst>
          </p:cNvPr>
          <p:cNvSpPr/>
          <p:nvPr/>
        </p:nvSpPr>
        <p:spPr>
          <a:xfrm>
            <a:off x="10213754" y="3530348"/>
            <a:ext cx="1242877" cy="3602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AR" sz="900" b="1" dirty="0"/>
          </a:p>
          <a:p>
            <a:pPr algn="ctr"/>
            <a:r>
              <a:rPr lang="es-AR" sz="900" b="1" dirty="0"/>
              <a:t>Motosierra Stardom 6" 21V</a:t>
            </a:r>
          </a:p>
          <a:p>
            <a:pPr algn="ctr"/>
            <a:endParaRPr lang="es-AR" sz="900" dirty="0"/>
          </a:p>
        </p:txBody>
      </p:sp>
      <p:sp>
        <p:nvSpPr>
          <p:cNvPr id="99" name="Rectángulo: esquinas redondeadas 98">
            <a:extLst>
              <a:ext uri="{FF2B5EF4-FFF2-40B4-BE49-F238E27FC236}">
                <a16:creationId xmlns:a16="http://schemas.microsoft.com/office/drawing/2014/main" id="{B9636C41-1E23-1699-4686-B68241CA7262}"/>
              </a:ext>
            </a:extLst>
          </p:cNvPr>
          <p:cNvSpPr/>
          <p:nvPr/>
        </p:nvSpPr>
        <p:spPr>
          <a:xfrm>
            <a:off x="10213755" y="4444005"/>
            <a:ext cx="1242876" cy="72648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Corte de rama</a:t>
            </a:r>
          </a:p>
        </p:txBody>
      </p:sp>
      <p:cxnSp>
        <p:nvCxnSpPr>
          <p:cNvPr id="100" name="Conector recto de flecha 99">
            <a:extLst>
              <a:ext uri="{FF2B5EF4-FFF2-40B4-BE49-F238E27FC236}">
                <a16:creationId xmlns:a16="http://schemas.microsoft.com/office/drawing/2014/main" id="{4F5284E3-B209-C359-FD93-6CCA3F3F8D14}"/>
              </a:ext>
            </a:extLst>
          </p:cNvPr>
          <p:cNvCxnSpPr>
            <a:stCxn id="98" idx="2"/>
            <a:endCxn id="99" idx="0"/>
          </p:cNvCxnSpPr>
          <p:nvPr/>
        </p:nvCxnSpPr>
        <p:spPr>
          <a:xfrm>
            <a:off x="10835193" y="3890629"/>
            <a:ext cx="0" cy="553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ángulo: esquinas redondeadas 100">
            <a:extLst>
              <a:ext uri="{FF2B5EF4-FFF2-40B4-BE49-F238E27FC236}">
                <a16:creationId xmlns:a16="http://schemas.microsoft.com/office/drawing/2014/main" id="{0B5A0831-9595-3C41-4EFB-045DCB414EE1}"/>
              </a:ext>
            </a:extLst>
          </p:cNvPr>
          <p:cNvSpPr/>
          <p:nvPr/>
        </p:nvSpPr>
        <p:spPr>
          <a:xfrm>
            <a:off x="5323883" y="3530348"/>
            <a:ext cx="1837676" cy="8500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AR" sz="900" b="1" dirty="0"/>
          </a:p>
          <a:p>
            <a:r>
              <a:rPr lang="es-AR" sz="900" b="1" dirty="0"/>
              <a:t>Drivers BTS7960</a:t>
            </a:r>
          </a:p>
          <a:p>
            <a:r>
              <a:rPr lang="es-AR" sz="900" dirty="0"/>
              <a:t>Reciben señal de activación según lo determinado por el microcontrolador y la envían a los motores</a:t>
            </a:r>
          </a:p>
          <a:p>
            <a:pPr algn="ctr"/>
            <a:endParaRPr lang="es-AR" sz="900" dirty="0"/>
          </a:p>
        </p:txBody>
      </p:sp>
      <p:sp>
        <p:nvSpPr>
          <p:cNvPr id="102" name="Rectángulo: esquinas redondeadas 101">
            <a:extLst>
              <a:ext uri="{FF2B5EF4-FFF2-40B4-BE49-F238E27FC236}">
                <a16:creationId xmlns:a16="http://schemas.microsoft.com/office/drawing/2014/main" id="{318FD402-4064-826E-5B42-7B58FCF5B0AC}"/>
              </a:ext>
            </a:extLst>
          </p:cNvPr>
          <p:cNvSpPr/>
          <p:nvPr/>
        </p:nvSpPr>
        <p:spPr>
          <a:xfrm>
            <a:off x="5323883" y="4807249"/>
            <a:ext cx="1837676" cy="3684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900" b="1" dirty="0"/>
          </a:p>
          <a:p>
            <a:pPr algn="ctr"/>
            <a:r>
              <a:rPr lang="es-AR" sz="900" b="1" dirty="0"/>
              <a:t>Motores paso a paso del sistema de escalado y desplazamiento</a:t>
            </a:r>
          </a:p>
          <a:p>
            <a:pPr algn="ctr"/>
            <a:endParaRPr lang="es-AR" sz="900" dirty="0"/>
          </a:p>
        </p:txBody>
      </p:sp>
      <p:cxnSp>
        <p:nvCxnSpPr>
          <p:cNvPr id="103" name="Conector recto de flecha 102">
            <a:extLst>
              <a:ext uri="{FF2B5EF4-FFF2-40B4-BE49-F238E27FC236}">
                <a16:creationId xmlns:a16="http://schemas.microsoft.com/office/drawing/2014/main" id="{7AE2127D-EADD-1A3D-27BD-73C0AB4AF1BE}"/>
              </a:ext>
            </a:extLst>
          </p:cNvPr>
          <p:cNvCxnSpPr>
            <a:stCxn id="101" idx="2"/>
            <a:endCxn id="102" idx="0"/>
          </p:cNvCxnSpPr>
          <p:nvPr/>
        </p:nvCxnSpPr>
        <p:spPr>
          <a:xfrm>
            <a:off x="6242721" y="4380385"/>
            <a:ext cx="0" cy="426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ector: angular 107">
            <a:extLst>
              <a:ext uri="{FF2B5EF4-FFF2-40B4-BE49-F238E27FC236}">
                <a16:creationId xmlns:a16="http://schemas.microsoft.com/office/drawing/2014/main" id="{1202AA26-371C-7100-809C-64E51B1C3CFF}"/>
              </a:ext>
            </a:extLst>
          </p:cNvPr>
          <p:cNvCxnSpPr>
            <a:cxnSpLocks/>
            <a:stCxn id="99" idx="3"/>
            <a:endCxn id="8" idx="2"/>
          </p:cNvCxnSpPr>
          <p:nvPr/>
        </p:nvCxnSpPr>
        <p:spPr>
          <a:xfrm flipH="1" flipV="1">
            <a:off x="11017187" y="3038379"/>
            <a:ext cx="439444" cy="1768869"/>
          </a:xfrm>
          <a:prstGeom prst="bentConnector4">
            <a:avLst>
              <a:gd name="adj1" fmla="val -58081"/>
              <a:gd name="adj2" fmla="val 8335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81782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270</Words>
  <Application>Microsoft Office PowerPoint</Application>
  <PresentationFormat>Panorámica</PresentationFormat>
  <Paragraphs>42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Matias Alejandro Sanchez</dc:creator>
  <cp:lastModifiedBy>Matias Alejandro Sanchez</cp:lastModifiedBy>
  <cp:revision>30</cp:revision>
  <dcterms:created xsi:type="dcterms:W3CDTF">2026-04-24T06:49:44Z</dcterms:created>
  <dcterms:modified xsi:type="dcterms:W3CDTF">2026-04-30T15:23:32Z</dcterms:modified>
</cp:coreProperties>
</file>